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4.png" ContentType="image/png"/>
  <Override PartName="/ppt/media/image11.png" ContentType="image/png"/>
  <Override PartName="/ppt/media/image12.png" ContentType="image/png"/>
  <Override PartName="/ppt/media/image7.png" ContentType="image/png"/>
  <Override PartName="/ppt/media/image37.png" ContentType="image/png"/>
  <Override PartName="/ppt/media/image13.png" ContentType="image/png"/>
  <Override PartName="/ppt/media/image8.png" ContentType="image/png"/>
  <Override PartName="/ppt/media/image38.png" ContentType="image/png"/>
  <Override PartName="/ppt/media/image40.png" ContentType="image/png"/>
  <Override PartName="/ppt/media/image9.png" ContentType="image/png"/>
  <Override PartName="/ppt/media/image39.png" ContentType="image/png"/>
  <Override PartName="/ppt/media/image41.png" ContentType="image/png"/>
  <Override PartName="/ppt/media/image30.png" ContentType="image/png"/>
  <Override PartName="/ppt/media/image28.png" ContentType="image/png"/>
  <Override PartName="/ppt/media/image36.png" ContentType="image/png"/>
  <Override PartName="/ppt/media/image6.png" ContentType="image/png"/>
  <Override PartName="/ppt/media/image29.png" ContentType="image/png"/>
  <Override PartName="/ppt/media/image1.png" ContentType="image/png"/>
  <Override PartName="/ppt/media/image31.png" ContentType="image/png"/>
  <Override PartName="/ppt/media/image10.png" ContentType="image/png"/>
  <Override PartName="/ppt/media/image5.png" ContentType="image/png"/>
  <Override PartName="/ppt/media/image35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058400" cy="27432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FAD0D1-28CA-41D5-9BBB-FED54D6E0E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2920" y="2556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2920" y="641880"/>
            <a:ext cx="9052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6271AE-0C9E-43BF-A1C6-930A4DFB62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2920" y="2556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9052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552628-2645-4096-B0FD-AE2490A882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2556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4417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41520" y="641880"/>
            <a:ext cx="4417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BEA2CB-DC1E-4B66-BBBD-D1823B577B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2920" y="2556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CE6404-78B9-494C-97B0-BB1FAA3AE3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2920" y="109440"/>
            <a:ext cx="9052200" cy="212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B11494-4CA1-4CF7-9FA0-AA5B14F42F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2920" y="2556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41520" y="641880"/>
            <a:ext cx="4417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2920" y="147276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77D368-56D0-48D8-A555-00C263DC25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2920" y="2556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4417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41520" y="64188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41520" y="147276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749B58-76BE-4EA7-B1F1-5870A6A9F6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2920" y="2556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41520" y="64188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2920" y="1472760"/>
            <a:ext cx="9052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EC53D38-406C-43BB-ACB0-B38D8CB5A2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2920" y="2556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9052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2920" y="1472760"/>
            <a:ext cx="9052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B7C531-895D-4217-8C02-EE8EF75653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2920" y="2556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41520" y="64188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2920" y="147276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41520" y="1472760"/>
            <a:ext cx="441720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D1DDDC-F103-466B-B394-A6371193F3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2920" y="2556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2920" y="641880"/>
            <a:ext cx="291456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63640" y="641880"/>
            <a:ext cx="291456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24360" y="641880"/>
            <a:ext cx="291456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2920" y="1472760"/>
            <a:ext cx="291456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63640" y="1472760"/>
            <a:ext cx="291456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24360" y="1472760"/>
            <a:ext cx="291456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42557BF-4906-425D-BF25-46DD88842D0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331440" y="2542320"/>
            <a:ext cx="3391200" cy="14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103520" y="2542320"/>
            <a:ext cx="2259720" cy="14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41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24FBA4B-B8B0-4A0D-B7B7-189CD96AD250}" type="slidenum">
              <a:rPr b="0" lang="en-US" sz="410" spc="-1" strike="noStrike">
                <a:solidFill>
                  <a:srgbClr val="8b8b8b"/>
                </a:solidFill>
                <a:latin typeface="Calibri"/>
                <a:ea typeface="DejaVu Sans"/>
              </a:rPr>
              <a:t>18</a:t>
            </a:fld>
            <a:endParaRPr b="0" lang="en-US" sz="41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691200" y="2542320"/>
            <a:ext cx="2259720" cy="14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2920" y="109440"/>
            <a:ext cx="90522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2920" y="641880"/>
            <a:ext cx="9052200" cy="159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331000" y="601920"/>
            <a:ext cx="628668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in Python</a:t>
            </a:r>
            <a:r>
              <a:rPr b="0" lang="en-US" sz="3600" spc="-1" strike="noStrike">
                <a:solidFill>
                  <a:srgbClr val="2e75b6"/>
                </a:solidFill>
                <a:latin typeface="Calibri Light"/>
                <a:ea typeface="DejaVu Sans"/>
              </a:rPr>
              <a:t>:</a:t>
            </a:r>
            <a:br>
              <a:rPr sz="274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1710" spc="-1" strike="noStrike">
                <a:solidFill>
                  <a:srgbClr val="2e75b6"/>
                </a:solidFill>
                <a:latin typeface="Calibri Light"/>
                <a:ea typeface="DejaVu Sans"/>
              </a:rPr>
              <a:t>From Theory to Practice</a:t>
            </a:r>
            <a:endParaRPr b="0" lang="en-US" sz="1710" spc="-1" strike="noStrike">
              <a:latin typeface="Arial"/>
            </a:endParaRPr>
          </a:p>
        </p:txBody>
      </p:sp>
      <p:pic>
        <p:nvPicPr>
          <p:cNvPr id="42" name="Picture 78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43" name="Straight Connector 6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4" name="" descr=""/>
          <p:cNvPicPr/>
          <p:nvPr/>
        </p:nvPicPr>
        <p:blipFill>
          <a:blip r:embed="rId2"/>
          <a:stretch/>
        </p:blipFill>
        <p:spPr>
          <a:xfrm>
            <a:off x="8373960" y="52956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0" y="629280"/>
            <a:ext cx="1005804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</a:t>
            </a:r>
            <a:br>
              <a:rPr sz="274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Randomized Controlled 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Trials (RCTs)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46" name="Picture 2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47" name="Straight Connector 6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8" name="" descr=""/>
          <p:cNvPicPr/>
          <p:nvPr/>
        </p:nvPicPr>
        <p:blipFill>
          <a:blip r:embed="rId2"/>
          <a:stretch/>
        </p:blipFill>
        <p:spPr>
          <a:xfrm>
            <a:off x="8445600" y="52920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514600" y="573120"/>
            <a:ext cx="567720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</a:t>
            </a:r>
            <a:br>
              <a:rPr sz="274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Directed Acyclic Graphs (DAGs)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50" name="Picture 2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51" name="Straight Connector 6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2" name="" descr=""/>
          <p:cNvPicPr/>
          <p:nvPr/>
        </p:nvPicPr>
        <p:blipFill>
          <a:blip r:embed="rId2"/>
          <a:stretch/>
        </p:blipFill>
        <p:spPr>
          <a:xfrm>
            <a:off x="8409960" y="52956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514600" y="573120"/>
            <a:ext cx="567720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</a:t>
            </a:r>
            <a:br>
              <a:rPr sz="274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 Potential Outcomes Framework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54" name="Picture 13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55" name="Straight Connector 15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6" name="" descr=""/>
          <p:cNvPicPr/>
          <p:nvPr/>
        </p:nvPicPr>
        <p:blipFill>
          <a:blip r:embed="rId2"/>
          <a:stretch/>
        </p:blipFill>
        <p:spPr>
          <a:xfrm>
            <a:off x="8409960" y="52956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057400" y="573120"/>
            <a:ext cx="628668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</a:t>
            </a:r>
            <a:br>
              <a:rPr sz="274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Temporal Causal 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Inference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58" name="Picture 2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59" name="Straight Connector 6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8410320" y="52992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039400" y="573120"/>
            <a:ext cx="628668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</a:t>
            </a:r>
            <a:r>
              <a:rPr b="0" lang="en-US" sz="4120" spc="-1" strike="noStrike">
                <a:solidFill>
                  <a:srgbClr val="005bbb"/>
                </a:solidFill>
                <a:latin typeface="Calibri Light"/>
                <a:ea typeface="DejaVu Sans"/>
              </a:rPr>
              <a:t> </a:t>
            </a:r>
            <a:br>
              <a:rPr sz="274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6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</a:t>
            </a:r>
            <a:br>
              <a:rPr sz="3600"/>
            </a:br>
            <a:r>
              <a:rPr b="0" lang="en-US" sz="3600" spc="-1" strike="noStrike">
                <a:solidFill>
                  <a:srgbClr val="2e75b6"/>
                </a:solidFill>
                <a:latin typeface="Calibri Light"/>
                <a:ea typeface="DejaVu Sans"/>
              </a:rPr>
              <a:t>Learning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62" name="Picture 1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8410680" y="530280"/>
            <a:ext cx="1599840" cy="1599840"/>
          </a:xfrm>
          <a:prstGeom prst="rect">
            <a:avLst/>
          </a:prstGeom>
          <a:ln w="0">
            <a:noFill/>
          </a:ln>
        </p:spPr>
      </p:pic>
      <p:sp>
        <p:nvSpPr>
          <p:cNvPr id="64" name="Straight Connector 1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286000" y="573120"/>
            <a:ext cx="628668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br>
              <a:rPr sz="412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600" spc="-1" strike="noStrike">
                <a:solidFill>
                  <a:srgbClr val="2e75b6"/>
                </a:solidFill>
                <a:latin typeface="Calibri Light"/>
                <a:ea typeface="DejaVu Sans"/>
              </a:rPr>
              <a:t>Tree-Based Models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6" name="Straight Connector 2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7" name="Picture 3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8411040" y="530640"/>
            <a:ext cx="1599840" cy="1599840"/>
          </a:xfrm>
          <a:prstGeom prst="rect">
            <a:avLst/>
          </a:prstGeom>
          <a:ln w="0">
            <a:noFill/>
          </a:ln>
        </p:spPr>
      </p:pic>
      <p:sp>
        <p:nvSpPr>
          <p:cNvPr id="69" name="Straight Connector 4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399760" y="573120"/>
            <a:ext cx="628668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br>
              <a:rPr sz="412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600" spc="-1" strike="noStrike">
                <a:solidFill>
                  <a:srgbClr val="2e75b6"/>
                </a:solidFill>
                <a:latin typeface="Calibri Light"/>
                <a:ea typeface="DejaVu Sans"/>
              </a:rPr>
              <a:t>Meta-Learners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71" name="Straight Connector 3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2" name="Picture 4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73" name="Straight Connector 5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8411400" y="57312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399760" y="573120"/>
            <a:ext cx="628668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71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br>
              <a:rPr sz="412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600" spc="-1" strike="noStrike">
                <a:solidFill>
                  <a:srgbClr val="2e75b6"/>
                </a:solidFill>
                <a:latin typeface="Calibri Light"/>
                <a:ea typeface="DejaVu Sans"/>
              </a:rPr>
              <a:t>Uplift Learners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76" name="Picture 5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77" name="Straight Connector 7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8" name="" descr=""/>
          <p:cNvPicPr/>
          <p:nvPr/>
        </p:nvPicPr>
        <p:blipFill>
          <a:blip r:embed="rId2"/>
          <a:stretch/>
        </p:blipFill>
        <p:spPr>
          <a:xfrm>
            <a:off x="8411400" y="57312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399760" y="689040"/>
            <a:ext cx="628668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br>
              <a:rPr sz="412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600" spc="-1" strike="noStrike">
                <a:solidFill>
                  <a:srgbClr val="2e75b6"/>
                </a:solidFill>
                <a:latin typeface="Calibri Light"/>
                <a:ea typeface="DejaVu Sans"/>
              </a:rPr>
              <a:t>Double/Debiased </a:t>
            </a:r>
            <a:br>
              <a:rPr sz="3600"/>
            </a:br>
            <a:r>
              <a:rPr b="0" lang="en-US" sz="3600" spc="-1" strike="noStrike">
                <a:solidFill>
                  <a:srgbClr val="2e75b6"/>
                </a:solidFill>
                <a:latin typeface="Calibri Light"/>
                <a:ea typeface="DejaVu Sans"/>
              </a:rPr>
              <a:t>Machine Learning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80" name="Picture 102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914400" y="986760"/>
            <a:ext cx="1369440" cy="136224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6" descr=""/>
          <p:cNvPicPr/>
          <p:nvPr/>
        </p:nvPicPr>
        <p:blipFill>
          <a:blip r:embed="rId2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82" name="Straight Connector 8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3" name="" descr=""/>
          <p:cNvPicPr/>
          <p:nvPr/>
        </p:nvPicPr>
        <p:blipFill>
          <a:blip r:embed="rId3"/>
          <a:stretch/>
        </p:blipFill>
        <p:spPr>
          <a:xfrm>
            <a:off x="8411400" y="57312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286000" y="573120"/>
            <a:ext cx="628668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br>
              <a:rPr sz="412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600" spc="-1" strike="noStrike">
                <a:solidFill>
                  <a:srgbClr val="2e75b6"/>
                </a:solidFill>
                <a:latin typeface="Calibri Light"/>
                <a:ea typeface="DejaVu Sans"/>
              </a:rPr>
              <a:t>Deep Causal Learning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85" name="Picture 7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86" name="Straight Connector 9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8411400" y="57312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286000" y="685800"/>
            <a:ext cx="628668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e75b6"/>
                </a:solidFill>
                <a:latin typeface="Calibri Light"/>
                <a:ea typeface="DejaVu Sans"/>
              </a:rPr>
              <a:t>Deep Causal Learning</a:t>
            </a:r>
            <a:br>
              <a:rPr sz="412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600" spc="-1" strike="noStrike">
                <a:solidFill>
                  <a:srgbClr val="2e75b6"/>
                </a:solidFill>
                <a:latin typeface="Calibri Light"/>
                <a:ea typeface="DejaVu Sans"/>
              </a:rPr>
              <a:t>Treatment Effect Estimators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89" name="Picture 8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90" name="Straight Connector 10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1" name="" descr=""/>
          <p:cNvPicPr/>
          <p:nvPr/>
        </p:nvPicPr>
        <p:blipFill>
          <a:blip r:embed="rId2"/>
          <a:stretch/>
        </p:blipFill>
        <p:spPr>
          <a:xfrm>
            <a:off x="8411400" y="57312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057400" y="573120"/>
            <a:ext cx="662904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e75b6"/>
                </a:solidFill>
                <a:latin typeface="Calibri Light"/>
                <a:ea typeface="DejaVu Sans"/>
              </a:rPr>
              <a:t>Deep Causal Learning</a:t>
            </a:r>
            <a:br>
              <a:rPr sz="412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Generative Latent-Variable 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Models  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93" name="Picture 9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94" name="Straight Connector 11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5" name="" descr=""/>
          <p:cNvPicPr/>
          <p:nvPr/>
        </p:nvPicPr>
        <p:blipFill>
          <a:blip r:embed="rId2"/>
          <a:stretch/>
        </p:blipFill>
        <p:spPr>
          <a:xfrm>
            <a:off x="8458200" y="45720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057400" y="573120"/>
            <a:ext cx="640044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e75b6"/>
                </a:solidFill>
                <a:latin typeface="Calibri Light"/>
                <a:ea typeface="DejaVu Sans"/>
              </a:rPr>
              <a:t>Deep Causal Learning</a:t>
            </a:r>
            <a:br>
              <a:rPr sz="412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6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Structural </a:t>
            </a:r>
            <a:br>
              <a:rPr sz="3600"/>
            </a:br>
            <a:r>
              <a:rPr b="0" lang="en-US" sz="3600" spc="-1" strike="noStrike">
                <a:solidFill>
                  <a:srgbClr val="2e75b6"/>
                </a:solidFill>
                <a:latin typeface="Calibri Light"/>
                <a:ea typeface="DejaVu Sans"/>
              </a:rPr>
              <a:t>Learning 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97" name="Picture 10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98" name="Straight Connector 12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8415720" y="51084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2057400" y="573120"/>
            <a:ext cx="640044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e75b6"/>
                </a:solidFill>
                <a:latin typeface="Calibri Light"/>
                <a:ea typeface="DejaVu Sans"/>
              </a:rPr>
              <a:t>Deep Causal Learning</a:t>
            </a:r>
            <a:br>
              <a:rPr sz="412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Time Series Deep Causal Machine Learning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01" name="Picture 11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102" name="Straight Connector 13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8415720" y="51084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2057400" y="573120"/>
            <a:ext cx="640044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Inference</a:t>
            </a:r>
            <a:br>
              <a:rPr sz="412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Quasi-Experiments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05" name="Picture 14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106" name="Straight Connector 16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8415720" y="51084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2057400" y="573120"/>
            <a:ext cx="640044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Inference</a:t>
            </a:r>
            <a:br>
              <a:rPr sz="412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Bayesian Causal ML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09" name="Picture 12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110" name="Straight Connector 14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8415720" y="51084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2057400" y="573120"/>
            <a:ext cx="640044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Inference</a:t>
            </a:r>
            <a:br>
              <a:rPr sz="412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Policy Learners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13" name="Picture 15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114" name="Straight Connector 17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5" name="" descr=""/>
          <p:cNvPicPr/>
          <p:nvPr/>
        </p:nvPicPr>
        <p:blipFill>
          <a:blip r:embed="rId2"/>
          <a:stretch/>
        </p:blipFill>
        <p:spPr>
          <a:xfrm>
            <a:off x="8415720" y="51084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057400" y="573120"/>
            <a:ext cx="640044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Inference</a:t>
            </a:r>
            <a:br>
              <a:rPr sz="4120"/>
            </a:br>
            <a:r>
              <a:rPr b="0" lang="en-US" sz="274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Quasi-Experiments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17" name="Picture 17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118" name="Straight Connector 19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9" name="" descr=""/>
          <p:cNvPicPr/>
          <p:nvPr/>
        </p:nvPicPr>
        <p:blipFill>
          <a:blip r:embed="rId2"/>
          <a:stretch/>
        </p:blipFill>
        <p:spPr>
          <a:xfrm>
            <a:off x="8415720" y="51084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2057400" y="645840"/>
            <a:ext cx="6400440" cy="1483920"/>
          </a:xfrm>
          <a:prstGeom prst="rect">
            <a:avLst/>
          </a:prstGeom>
          <a:noFill/>
          <a:ln w="0">
            <a:noFill/>
          </a:ln>
        </p:spPr>
        <p:txBody>
          <a:bodyPr lIns="77040" rIns="77040" tIns="38520" bIns="3852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2e75b6"/>
                </a:solidFill>
                <a:latin typeface="Calibri Light"/>
                <a:ea typeface="DejaVu Sans"/>
              </a:rPr>
              <a:t>Clinical NLP for Oncology</a:t>
            </a:r>
            <a:br>
              <a:rPr sz="4400"/>
            </a:br>
            <a:r>
              <a:rPr b="0" lang="en-US" sz="1800" spc="-1" strike="noStrike">
                <a:solidFill>
                  <a:srgbClr val="2e75b6"/>
                </a:solidFill>
                <a:latin typeface="Calibri Light"/>
                <a:ea typeface="DejaVu Sans"/>
              </a:rPr>
              <a:t>A Python Tutorial</a:t>
            </a:r>
            <a:r>
              <a:rPr b="0" lang="en-US" sz="440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121" name="Picture 16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303120" y="528120"/>
            <a:ext cx="1831320" cy="1832040"/>
          </a:xfrm>
          <a:prstGeom prst="rect">
            <a:avLst/>
          </a:prstGeom>
          <a:ln w="0">
            <a:noFill/>
          </a:ln>
        </p:spPr>
      </p:pic>
      <p:sp>
        <p:nvSpPr>
          <p:cNvPr id="122" name="Straight Connector 18"/>
          <p:cNvSpPr/>
          <p:nvPr/>
        </p:nvSpPr>
        <p:spPr>
          <a:xfrm>
            <a:off x="2039400" y="645840"/>
            <a:ext cx="4320" cy="1279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3" name="" descr=""/>
          <p:cNvPicPr/>
          <p:nvPr/>
        </p:nvPicPr>
        <p:blipFill>
          <a:blip r:embed="rId2"/>
          <a:stretch/>
        </p:blipFill>
        <p:spPr>
          <a:xfrm>
            <a:off x="8415720" y="510840"/>
            <a:ext cx="15998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2072</TotalTime>
  <Application>LibreOffice/7.3.7.2$Linux_X86_64 LibreOffice_project/30$Build-2</Application>
  <AppVersion>15.0000</AppVersion>
  <Words>129</Words>
  <Paragraphs>11</Paragraphs>
  <Company>University at Buffalo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2022-12-13T22:28:50Z</dcterms:created>
  <dc:creator>Zia Ahmed</dc:creator>
  <dc:description/>
  <dc:language>en-US</dc:language>
  <cp:lastModifiedBy/>
  <dcterms:modified xsi:type="dcterms:W3CDTF">2026-09-30T14:33:16Z</dcterms:modified>
  <cp:revision>41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11</vt:i4>
  </property>
</Properties>
</file>